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one-liner: inside the process, over MCP, one agent can drive several apps, then freeze as C#. Call out multi-app early — it is a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if anyone has watched an agent fight UIA names. Binding errors are the punch line. Point at the last row: one agent, several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never opens a TCP port. CLI is the only process the IDE talks to. Preview multi-app: the CLI holds named sessions; details on the next dedicated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hooks. Mention PilotHost.Start() only as optional and Debug-gated. One sentence on security, then go to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loop they will feel in Cursor. Stress named sessions on steps 1 and 5. The next slide is the multi-app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differentiator. Demo verbally if you only have SampleApp running: select_session for a sticky default; never reuse e42 from server on client. Spend 45–60 seconds, then go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these six steps without improvising. If a selector fails, inspect_element out loud. If you have a second exe, start it as session client after step 1 and list_sessions. Timebox to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rule: never author a Client test from guesses — prove each step on MCP first. Product tests live in the product repository, not in UiPilot. A dual-app test is two StartAppAsync calls with different session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four takeaways. Lead with in-process and multi-app. Invite questions on dual-UI attach and product-test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078D4"/>
                </a:solidFill>
                <a:latin typeface="Calibri"/>
              </a:rPr>
              <a:t>10-MINUTE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UiPilot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5D0DC"/>
                </a:solidFill>
                <a:latin typeface="Calibri"/>
              </a:rPr>
              <a:t>In-process desktop UI automation for AI coding agents.
Drive one app or several at once — then freeze the flow as C#.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557784" cy="34747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55778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WPF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7592" y="3977639"/>
            <a:ext cx="1060704" cy="34747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3977639"/>
            <a:ext cx="1060704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Avalonia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78024" y="3977639"/>
            <a:ext cx="2066543" cy="34747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78024" y="3977639"/>
            <a:ext cx="2066543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Multi-app sessions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5" y="3977639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5" y="3977639"/>
            <a:ext cx="96012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MCP 2.0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24143" y="3977639"/>
            <a:ext cx="1261872" cy="347472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4143" y="3977639"/>
            <a:ext cx="12618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Named pipe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95743" y="3977639"/>
            <a:ext cx="1865376" cy="347472"/>
          </a:xfrm>
          <a:prstGeom prst="roundRect">
            <a:avLst>
              <a:gd name="adj" fmla="val 50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5743" y="3977639"/>
            <a:ext cx="1865376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Zero-edit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A9AAB"/>
                </a:solidFill>
                <a:latin typeface="Calibri"/>
              </a:rPr>
              <a:t>Talk 4 min  ·  Live drive 5 min  ·  Close 1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2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Desktop UI is a blind spot for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External UI Automation sees the accessibility projection. It cannot tell you why a binding failed, what the DataContext is, or that a control rendered at zero size.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69080"/>
                <a:gridCol w="4069080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>
                    <a:solidFill>
                      <a:srgbClr val="0B1F33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External UIA</a:t>
                      </a:r>
                    </a:p>
                  </a:txBody>
                  <a:tcPr>
                    <a:solidFill>
                      <a:srgbClr val="0B1F33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UiPilot</a:t>
                      </a:r>
                    </a:p>
                  </a:txBody>
                  <a:tcPr>
                    <a:solidFill>
                      <a:srgbClr val="0B1F33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Visual tree + ViewModel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Accessibility names only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Live objects in-process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Binding failures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Invisible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get_binding_errors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Layout bugs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Screen bounds if visible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zero size, off-screen, overlap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Screenshot while minimized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Needs a visible window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RenderTargetBitmap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Several apps at once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Separate tools / processes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Named sessions in one agent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3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How it fits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The agent never talks to the app directly. The CLI owns process lifecycle and can keep several named sessions attached at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72768"/>
            <a:ext cx="18196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93392"/>
            <a:ext cx="1819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Cursor / Claude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41448" y="1847088"/>
            <a:ext cx="219456" cy="256032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79192" y="14630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572768"/>
            <a:ext cx="18196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UiPilot.Cli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1993392"/>
            <a:ext cx="1819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stdio MCP + launch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63440" y="1847088"/>
            <a:ext cx="219456" cy="256032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01184" y="14630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14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1572768"/>
            <a:ext cx="18196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UiPilot.Core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1993392"/>
            <a:ext cx="1819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tools · pipe · auth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85432" y="1847088"/>
            <a:ext cx="219456" cy="256032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23176" y="14630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1572768"/>
            <a:ext cx="18196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WPF / Avalonia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1993392"/>
            <a:ext cx="1819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C6B7A"/>
                </a:solidFill>
                <a:latin typeface="Calibri"/>
              </a:rPr>
              <a:t>thin adapters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07424" y="1847088"/>
            <a:ext cx="219456" cy="256032"/>
          </a:xfrm>
          <a:prstGeom prst="rightArrow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45168" y="14630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72768"/>
            <a:ext cx="1819656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Target app(s)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993392"/>
            <a:ext cx="1819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C6B7A"/>
                </a:solidFill>
                <a:latin typeface="Calibri"/>
              </a:rPr>
              <a:t>one process 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8892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MCP stdio                 named pipe                    IUiBackend                      in-process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74136"/>
            <a:ext cx="33284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Live visual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703320"/>
            <a:ext cx="3328416" cy="2020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Query by type, Name, AutomationId, tooltip, or text. Handles are per session.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46120"/>
            <a:ext cx="3657600" cy="26060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374136"/>
            <a:ext cx="33284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Bindings and layout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3703320"/>
            <a:ext cx="3328416" cy="2020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Captured binding warnings. analyze_layout finds zero-size, off-screen, and overlapping elements.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246120"/>
            <a:ext cx="3566160" cy="26060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3374136"/>
            <a:ext cx="32369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Screenshots while minimized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703320"/>
            <a:ext cx="3236976" cy="2020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B2430"/>
                </a:solidFill>
                <a:latin typeface="Calibri"/>
              </a:rPr>
              <a:t>RenderTargetBitmap per window. The app starts minimized so the IDE stays 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4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Adoption: zero edits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Point Cursor at UiPilot.Cli as an MCP server. start_app / build_and_start injects the host via DOTNET_STARTUP_HOOKS. No project reference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32461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Cursor MCP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0F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4800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"uipilot": {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"command": "dotnet",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"args": ["run", "--project",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".../UiPilot.Cli.csproj"]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19072"/>
            <a:ext cx="5074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Optional in-app line (idempotent)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2148840"/>
            <a:ext cx="5074920" cy="2331720"/>
          </a:xfrm>
          <a:prstGeom prst="roundRect">
            <a:avLst>
              <a:gd name="adj" fmla="val 6000"/>
            </a:avLst>
          </a:prstGeom>
          <a:solidFill>
            <a:srgbClr val="0F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AAB"/>
                </a:solidFill>
                <a:latin typeface="Consolas"/>
              </a:rPr>
              <a:t>// WPF  App.xaml.cs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UiPilot.Wpf.PilotHost.Start();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A9AAB"/>
                </a:solidFill>
                <a:latin typeface="Consolas"/>
              </a:rPr>
              <a:t>// Avalonia  App.axaml.cs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UiPilot.Avalonia.PilotHost.Start();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Security defaults   ·   Enabled only in Debug, UIPILOT_ENABLE=1, or Start(force: true).   Named pipe only — no TCP.   Per-run token in %TEMP%/uipilot.   A forgotten Start() in Release ships nothing.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5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The agent edit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698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88136"/>
            <a:ext cx="43891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960120"/>
            <a:ext cx="8412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start_app / build_and_start with a named session — repeat for each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56232"/>
            <a:ext cx="112471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0299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48256"/>
            <a:ext cx="43891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20240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Attach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20240"/>
            <a:ext cx="8412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CLI reads the discovery file, authenticates, opens a pipe per 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16352"/>
            <a:ext cx="112471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99008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08376"/>
            <a:ext cx="43891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880360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Find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880360"/>
            <a:ext cx="8412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wait_for_element / find_elements — pass session, then click, type_text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76472"/>
            <a:ext cx="112471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95020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68496"/>
            <a:ext cx="43891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40480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40480"/>
            <a:ext cx="8412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screenshot works while minimized; get_binding_errors / analyze_layout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36592"/>
            <a:ext cx="11247120" cy="9144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49103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28616"/>
            <a:ext cx="438912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Restart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800600"/>
            <a:ext cx="84124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restart_app one session, or stop_all when the whole set is done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6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One agent, several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Named sessions let the same agent drive a server UI, a client UI, and a non-UI host together. Element ids are per process — always pair an id with the session that produced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session: "host"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47088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78D4"/>
                </a:solidFill>
                <a:latin typeface="Calibri"/>
              </a:rPr>
              <a:t>start_process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B2430"/>
                </a:solidFill>
                <a:latin typeface="Calibri"/>
              </a:rPr>
              <a:t>Console / supervisor. wait_for_log until it is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10972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361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session: "server"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47088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78D4"/>
                </a:solidFill>
                <a:latin typeface="Calibri"/>
              </a:rPr>
              <a:t>start_app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4884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B2430"/>
                </a:solidFill>
                <a:latin typeface="Calibri"/>
              </a:rPr>
              <a:t>WPF or Avalonia UI. Screenshot and inspect independently.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657600" cy="16916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17320"/>
            <a:ext cx="109728" cy="1691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361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session: "client"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847088"/>
            <a:ext cx="3200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78D4"/>
                </a:solidFill>
                <a:latin typeface="Calibri"/>
              </a:rPr>
              <a:t>start_app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48840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B2430"/>
                </a:solidFill>
                <a:latin typeface="Calibri"/>
              </a:rPr>
              <a:t>Second UI. find_elements / click with session: "client".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11247120" cy="2606040"/>
          </a:xfrm>
          <a:prstGeom prst="roundRect">
            <a:avLst>
              <a:gd name="adj" fmla="val 8000"/>
            </a:avLst>
          </a:prstGeom>
          <a:solidFill>
            <a:srgbClr val="0F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56432"/>
            <a:ext cx="107899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start_process(path: Host.exe, session: "host")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wait_for_log(pathOrGlob, pattern: "Startup completed")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start_app(path: ServerUi.exe, session: "server")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start_app(path: ClientUi.exe, session: "client")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find_elements(query: "Connect", session: "client")   →   click   →   screenshot(session: "server")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onsolas"/>
              </a:rPr>
              <a:t>stop_all()     # job object tears down hosts and anything they spawned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7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Live demo — SampleApp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Keep the app minimized. Narrate each MCP call before you run it. About five minutes. Mention a second session if you have one.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471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937760"/>
                <a:gridCol w="5669280"/>
              </a:tblGrid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1F33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>
                    <a:solidFill>
                      <a:srgbClr val="0B1F33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Show the audience</a:t>
                      </a:r>
                    </a:p>
                  </a:txBody>
                  <a:tcPr>
                    <a:solidFill>
                      <a:srgbClr val="0B1F33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start_app(..., session: "sample")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Named session; IDE stays in front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screenshot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Image while the window is minimized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find_elements("NameBox", exact: true)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Id, type, AutomationId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type_text  →  click GreetButton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Interaction method on the response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2737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wait_for_element("Hello, UiPilot!")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Visible text in the live tree</a:t>
                      </a:r>
                    </a:p>
                  </a:txBody>
                  <a:tcPr>
                    <a:solidFill>
                      <a:srgbClr val="F3F6F9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  <a:tr h="67273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get_binding_errors  ·  analyze_layout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B2430"/>
                          </a:solidFill>
                          <a:latin typeface="Calibri"/>
                        </a:rPr>
                        <a:t>What UIA cannot see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0D7DE"/>
                      </a:solidFill>
                    </a:lnL>
                    <a:lnR w="6350">
                      <a:solidFill>
                        <a:srgbClr val="D0D7DE"/>
                      </a:solidFill>
                    </a:lnR>
                    <a:lnT w="6350">
                      <a:solidFill>
                        <a:srgbClr val="D0D7DE"/>
                      </a:solidFill>
                    </a:lnT>
                    <a:lnB w="6350">
                      <a:solidFill>
                        <a:srgbClr val="D0D7DE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8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Prove it on MCP, freeze it as C#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B2430"/>
                </a:solidFill>
                <a:latin typeface="Calibri"/>
              </a:rPr>
              <a:t>MCP is the exploration surface. UiPilot.Client is the durable artifact. No model participates when dotnet test runs. Sessions work the same way in C#.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09728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1. Explore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B2430"/>
                </a:solidFill>
                <a:latin typeface="Calibri"/>
              </a:rPr>
              <a:t>One MCP step at a time. Record query, exact, element type, session, and interaction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09728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2. Write the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B2430"/>
                </a:solidFill>
                <a:latin typeface="Calibri"/>
              </a:rPr>
              <a:t>StartAppAsync / StartProcessAsync with session names. Same vocabulary, typed responses.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109728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3. Assert in xUnit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55848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B2430"/>
                </a:solidFill>
                <a:latin typeface="Calibri"/>
              </a:rPr>
              <a:t>Assert on visibility, text, and method. Product selectors stay in the product repo.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508760"/>
            <a:ext cx="5577840" cy="4160520"/>
          </a:xfrm>
          <a:prstGeom prst="roundRect">
            <a:avLst>
              <a:gd name="adj" fmla="val 8000"/>
            </a:avLst>
          </a:prstGeom>
          <a:solidFill>
            <a:srgbClr val="0F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4592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78D4"/>
                </a:solidFill>
                <a:latin typeface="Consolas"/>
              </a:rPr>
              <a:t>UiPilot.Client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await using var pilot = new UiPilotClient();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await pilot.StartAppAsync(exe, session: "sample");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var box = await pilot.WaitForElementAsync(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"NameBox", exact: true, session: "sample");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await pilot.TypeTextAsync(box.Id, "UiPilot");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await pilot.ClickAsync(greet.Id);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Assert.Contains(greeting.Elements,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    e =&gt; e.Visible &amp;&amp; e.Text == "Hello, UiPilot!");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5C6B7A"/>
                </a:solidFill>
                <a:latin typeface="Calibri"/>
              </a:rPr>
              <a:t>UiPilot  ·  10-minute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554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5C6B7A"/>
                </a:solidFill>
                <a:latin typeface="Calibri"/>
              </a:rPr>
              <a:t>9  /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Takeaways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09728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07592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In-process is the difference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5074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B2430"/>
                </a:solidFill>
                <a:latin typeface="Calibri"/>
              </a:rPr>
              <a:t>Bindings, layout, and minimized screenshots — not the accessibility tree.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05156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109728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307592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Zero-edit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83080"/>
            <a:ext cx="5074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B2430"/>
                </a:solidFill>
                <a:latin typeface="Calibri"/>
              </a:rPr>
              <a:t>Startup hooks inject the host. Optional PilotHost.Start() is idempotent and Debug-gated.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09728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One agent, several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40"/>
            <a:ext cx="5074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B2430"/>
                </a:solidFill>
                <a:latin typeface="Calibri"/>
              </a:rPr>
              <a:t>Named sessions for a server UI, a client UI, and a console host. Ids never cross processes.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17520"/>
            <a:ext cx="5623560" cy="17830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017520"/>
            <a:ext cx="109728" cy="1783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273552"/>
            <a:ext cx="5074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MCP explores, C# regresses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49040"/>
            <a:ext cx="5074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B2430"/>
                </a:solidFill>
                <a:latin typeface="Calibri"/>
              </a:rPr>
              <a:t>Same commands, including session. Product selectors stay in the product repo.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6B7A"/>
                </a:solidFill>
                <a:latin typeface="Calibri"/>
              </a:rPr>
              <a:t>Questions   ·   Dual-UI attach   ·   Elevated apps (attach vs launch)   ·   Where product tests should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